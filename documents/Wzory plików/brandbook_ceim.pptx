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10298"/>
            <a:ext cx="2926080" cy="19742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3485729"/>
            <a:ext cx="2926080" cy="254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3668609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1A"/>
                </a:solidFill>
                <a:latin typeface="Georgia"/>
              </a:rPr>
              <a:t>BRAND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38184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Identyfikacja wizualna marki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2026</a:t>
            </a:r>
          </a:p>
        </p:txBody>
      </p:sp>
      <p:pic>
        <p:nvPicPr>
          <p:cNvPr id="10" name="Picture 9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69705"/>
            <a:ext cx="2377440" cy="1604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Spis treści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46304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53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4904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Logo – wersja podstawowa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55848" y="146304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55848" y="1453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14904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Logo – warianty i zastosowania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202996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08776" y="146304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08776" y="1453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7416" y="149047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Logo – czego unikać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202996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2920" y="242316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450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Kolory firmowe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99008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355848" y="242316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5584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4488" y="2450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Typografia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299008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208776" y="242316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08776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245059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Ton komunikacji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08776" y="299008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374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41071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Elementy graficzne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95020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355848" y="338328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55848" y="3374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4488" y="341071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Styl fotograficzny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395020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208776" y="3383280"/>
            <a:ext cx="457200" cy="457200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08776" y="3374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7416" y="341071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Przykłady zastosowań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3950208"/>
            <a:ext cx="2743200" cy="12700"/>
          </a:xfrm>
          <a:prstGeom prst="rect">
            <a:avLst/>
          </a:prstGeom>
          <a:solidFill>
            <a:srgbClr val="DDC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01  /  Logo – wersja podstawowa</a:t>
            </a:r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45301"/>
            <a:ext cx="3474720" cy="23444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280160"/>
            <a:ext cx="4114800" cy="3474720"/>
          </a:xfrm>
          <a:prstGeom prst="rect">
            <a:avLst/>
          </a:prstGeom>
          <a:noFill/>
          <a:ln w="15240">
            <a:solidFill>
              <a:srgbClr val="FAA4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Strefa ochronna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2801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Wersja podstawowa</a:t>
            </a:r>
          </a:p>
        </p:txBody>
      </p:sp>
      <p:sp>
        <p:nvSpPr>
          <p:cNvPr id="9" name="Oval 8"/>
          <p:cNvSpPr/>
          <p:nvPr/>
        </p:nvSpPr>
        <p:spPr>
          <a:xfrm>
            <a:off x="5120640" y="1828800"/>
            <a:ext cx="109728" cy="109728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21808" y="17830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Wersja kolorowa to podstawowy
wariant logo CEiM.</a:t>
            </a:r>
          </a:p>
        </p:txBody>
      </p:sp>
      <p:sp>
        <p:nvSpPr>
          <p:cNvPr id="11" name="Oval 10"/>
          <p:cNvSpPr/>
          <p:nvPr/>
        </p:nvSpPr>
        <p:spPr>
          <a:xfrm>
            <a:off x="5120640" y="2651760"/>
            <a:ext cx="109728" cy="109728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8" y="26060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Stosuj na białym lub jasnym,
neutralnym tle.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0" y="3474720"/>
            <a:ext cx="109728" cy="109728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21808" y="34290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Zachowaj strefę ochronną –
minimum 1/4 wysokości znaku.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02  /  Logo – warianty i zastosowania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017723"/>
            <a:ext cx="2286000" cy="1542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Wersja kolorowa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Jasne tła</a:t>
            </a:r>
          </a:p>
        </p:txBody>
      </p:sp>
      <p:sp>
        <p:nvSpPr>
          <p:cNvPr id="9" name="Rectangle 8"/>
          <p:cNvSpPr/>
          <p:nvPr/>
        </p:nvSpPr>
        <p:spPr>
          <a:xfrm>
            <a:off x="4892040" y="1188720"/>
            <a:ext cx="3657600" cy="3200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17723"/>
            <a:ext cx="2286000" cy="15423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9204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Wersja monochromatyczna (biała)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Ciemne tła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03  /  Logo – czego unikać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143000"/>
            <a:ext cx="182880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C2222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Nie zmieniaj
proporcji logo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42616" y="1143000"/>
            <a:ext cx="182880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42616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C2222"/>
                </a:solidFill>
                <a:latin typeface="Calibr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Nie zmieniaj
kolorów marki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72584" y="1143000"/>
            <a:ext cx="182880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72584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C2222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Nie dodawaj
cieni ani efektów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02552" y="1143000"/>
            <a:ext cx="1828800" cy="20116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02552" y="13716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C2222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2552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Nie umieszczaj
na wzorzystym 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Logo jest chronioną identyfikacją marki. Stosuj wyłącznie dostarczone pliki oryginalne.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04  /  Kolory firmowe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392" y="1188720"/>
            <a:ext cx="1737360" cy="18288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0392" y="3017520"/>
            <a:ext cx="1737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Pomarańcz główny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HEX  #FAA400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749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nsolas"/>
              </a:rPr>
              <a:t>RGB  250, 164,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Kolor dominujący marki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3784" y="1188720"/>
            <a:ext cx="173736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3784" y="3017520"/>
            <a:ext cx="1737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Czerń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HEX  #1A1A1A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749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nsolas"/>
              </a:rPr>
              <a:t>RGB  26, 26,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Teksty i logotyp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37176" y="1188720"/>
            <a:ext cx="17373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37176" y="3017520"/>
            <a:ext cx="1737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28616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8616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HEX  #FFFFFF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8616" y="3749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nsolas"/>
              </a:rPr>
              <a:t>RGB  255, 255, 255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8616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Tła i przestrzeń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30568" y="1188720"/>
            <a:ext cx="1737360" cy="1828800"/>
          </a:xfrm>
          <a:prstGeom prst="rect">
            <a:avLst/>
          </a:prstGeom>
          <a:solidFill>
            <a:srgbClr val="FFF8EE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30568" y="3017520"/>
            <a:ext cx="1737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22008" y="3108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Krem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nsolas"/>
              </a:rPr>
              <a:t>HEX  #FFF8EE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7490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nsolas"/>
              </a:rPr>
              <a:t>RGB  255, 248, 238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Tła uzupełniające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05  /  Typografia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NAGŁÓWKOWY – DRUK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688" y="10241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NAGŁÓWKOWY – CYFROWY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25896" y="102412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PODSTAWOWY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Garamond"/>
              </a:rPr>
              <a:t>Garamond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13533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Georgia"/>
              </a:rPr>
              <a:t>Georgia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5896" y="1353312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1A1A1A"/>
                </a:solidFill>
                <a:latin typeface="Calibri"/>
              </a:rPr>
              <a:t>Calibri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933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Garamond"/>
              </a:rPr>
              <a:t>Aa Bb Cc Dd
Ee Ff Gg Hh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19933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Georgia"/>
              </a:rPr>
              <a:t>Aa Bb Cc Dd
Ee Ff Gg Hh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199339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Aa Bb Cc Dd
Ee Ff Gg Hh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43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Katalogi, ulotki,
materiały drukowane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2743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Prezentacje, e-maile,
strona www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2743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Cała treść we
wszystkich kanałach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18104" y="1005840"/>
            <a:ext cx="127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25312" y="1005840"/>
            <a:ext cx="12700" cy="274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1168" y="3520440"/>
            <a:ext cx="8942832" cy="141732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Zasada stosowania fontów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114800"/>
            <a:ext cx="109728" cy="109728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0599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Garamond → materiały drukowane (katalogi, ulotki, papier firmowy)</a:t>
            </a:r>
          </a:p>
        </p:txBody>
      </p:sp>
      <p:sp>
        <p:nvSpPr>
          <p:cNvPr id="23" name="Oval 22"/>
          <p:cNvSpPr/>
          <p:nvPr/>
        </p:nvSpPr>
        <p:spPr>
          <a:xfrm>
            <a:off x="3355848" y="4114800"/>
            <a:ext cx="109728" cy="109728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38728" y="40599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Georgia → materiały cyfrowe (prezentacje, e-maile, strona www)</a:t>
            </a:r>
          </a:p>
        </p:txBody>
      </p:sp>
      <p:sp>
        <p:nvSpPr>
          <p:cNvPr id="25" name="Oval 24"/>
          <p:cNvSpPr/>
          <p:nvPr/>
        </p:nvSpPr>
        <p:spPr>
          <a:xfrm>
            <a:off x="6208776" y="4114800"/>
            <a:ext cx="109728" cy="109728"/>
          </a:xfrm>
          <a:prstGeom prst="ellipse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405993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Calibri → treść podstawowa – we wszystkich kanałach komunikacji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2D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06  /  Ton komunikacji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FD06A"/>
                </a:solidFill>
                <a:latin typeface="Georgia"/>
              </a:rPr>
              <a:t>Jak mówimy o marce CEiM?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" y="1828800"/>
            <a:ext cx="1920240" cy="2194560"/>
          </a:xfrm>
          <a:prstGeom prst="rect">
            <a:avLst/>
          </a:prstGeom>
          <a:solidFill>
            <a:srgbClr val="2D2200"/>
          </a:solidFill>
          <a:ln w="12700">
            <a:solidFill>
              <a:srgbClr val="FA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80060" y="1828800"/>
            <a:ext cx="1920240" cy="64008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8" y="199339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A400"/>
                </a:solidFill>
                <a:latin typeface="Calibri"/>
              </a:rPr>
              <a:t>Ciepło i szacunek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" y="2487168"/>
            <a:ext cx="1700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Mówimy do klientów z empatią i troską.
Nasza komunikacja jest bliska i ludzka.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900" y="1828800"/>
            <a:ext cx="1920240" cy="2194560"/>
          </a:xfrm>
          <a:prstGeom prst="rect">
            <a:avLst/>
          </a:prstGeom>
          <a:solidFill>
            <a:srgbClr val="2D2200"/>
          </a:solidFill>
          <a:ln w="12700">
            <a:solidFill>
              <a:srgbClr val="FA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28900" y="1828800"/>
            <a:ext cx="1920240" cy="64008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38628" y="199339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A400"/>
                </a:solidFill>
                <a:latin typeface="Calibri"/>
              </a:rPr>
              <a:t>Tradycja i jakość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8628" y="2487168"/>
            <a:ext cx="1700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Odwołujemy się do polskiej tradycji
i rzemiosła. Jakość to nasz fundament.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7740" y="1828800"/>
            <a:ext cx="1920240" cy="2194560"/>
          </a:xfrm>
          <a:prstGeom prst="rect">
            <a:avLst/>
          </a:prstGeom>
          <a:solidFill>
            <a:srgbClr val="2D2200"/>
          </a:solidFill>
          <a:ln w="12700">
            <a:solidFill>
              <a:srgbClr val="FA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77740" y="1828800"/>
            <a:ext cx="1920240" cy="64008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7468" y="199339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A400"/>
                </a:solidFill>
                <a:latin typeface="Calibri"/>
              </a:rPr>
              <a:t>Prostota i klarowność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7468" y="2487168"/>
            <a:ext cx="1700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Unikamy żargonu. Komunikat jest
zrozumiały i bezpośredni.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26580" y="1828800"/>
            <a:ext cx="1920240" cy="2194560"/>
          </a:xfrm>
          <a:prstGeom prst="rect">
            <a:avLst/>
          </a:prstGeom>
          <a:solidFill>
            <a:srgbClr val="2D2200"/>
          </a:solidFill>
          <a:ln w="12700">
            <a:solidFill>
              <a:srgbClr val="FAA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926580" y="1828800"/>
            <a:ext cx="1920240" cy="64008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36308" y="1993392"/>
            <a:ext cx="17007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A400"/>
                </a:solidFill>
                <a:latin typeface="Calibri"/>
              </a:rPr>
              <a:t>Zaufanie i rzetelność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6308" y="2487168"/>
            <a:ext cx="17007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Dotrzymujemy słowa. Klient może
na nas polegać w każdej chwili.</a:t>
            </a:r>
          </a:p>
        </p:txBody>
      </p:sp>
      <p:pic>
        <p:nvPicPr>
          <p:cNvPr id="22" name="Picture 2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206240"/>
            <a:ext cx="1280160" cy="863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Georgia"/>
              </a:rPr>
              <a:t>07  /  Elementy graficzne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24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SYGNET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25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Znak graficzny marki – okrąg z płomieniem. Może być
stosowany samodzielnie jako element dekoracyjny.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1554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ogo_sign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566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Duży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0240" y="1920240"/>
            <a:ext cx="1554480" cy="1554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ogo_sign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33172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20240" y="3566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Na ciemnym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1920240"/>
            <a:ext cx="1554480" cy="155448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logo_signet_white.png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657600" y="2468880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8960" y="35661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Na pomarańczu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005840"/>
            <a:ext cx="12700" cy="3840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102412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LINIE I PASKI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325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Linia w kolorze firmowym służy jako separator treści,
akcentowanie nagłówków i ramki elementów.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057400"/>
            <a:ext cx="3200400" cy="381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21305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Linia gruba – akcent nagłówka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2587752"/>
            <a:ext cx="3200400" cy="127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266090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Linia cienka – separator treści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118104"/>
            <a:ext cx="3200400" cy="381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19125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Linia czarna – podkreślenie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648456"/>
            <a:ext cx="3200400" cy="127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72160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Linia szara – delikatny separator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" y="4251960"/>
            <a:ext cx="8942832" cy="685800"/>
          </a:xfrm>
          <a:prstGeom prst="rect">
            <a:avLst/>
          </a:prstGeom>
          <a:solidFill>
            <a:srgbClr val="FF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31596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Sygnet może być stosowany jako ghosted watermark (przezroczystość 10–15%) na tłach materiałów drukowanych.</a:t>
            </a:r>
          </a:p>
        </p:txBody>
      </p:sp>
      <p:pic>
        <p:nvPicPr>
          <p:cNvPr id="29" name="Picture 28" descr="logo_sign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16052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2D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08  /  Styl fotograficzny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A400"/>
                </a:solidFill>
                <a:latin typeface="Calibri"/>
              </a:rPr>
              <a:t>✓  STOSUJ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658368" cy="1005840"/>
          </a:xfrm>
          <a:prstGeom prst="rect">
            <a:avLst/>
          </a:prstGeom>
          <a:solidFill>
            <a:srgbClr val="3D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2606040"/>
            <a:ext cx="704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Ciepłe, bursztynowe oświetlenie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568" y="1508760"/>
            <a:ext cx="658368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606040"/>
            <a:ext cx="704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Ciemne, stonowane tła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19656" y="1508760"/>
            <a:ext cx="658368" cy="100584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19656" y="2606040"/>
            <a:ext cx="704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Złoto-pomarańczowe refleksy płomienia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3744" y="1508760"/>
            <a:ext cx="658368" cy="1005840"/>
          </a:xfrm>
          <a:prstGeom prst="rect">
            <a:avLst/>
          </a:prstGeom>
          <a:solidFill>
            <a:srgbClr val="5C3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23744" y="2606040"/>
            <a:ext cx="704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Drewno, kamień, naturalne faktury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1508760"/>
            <a:ext cx="658368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27832" y="2606040"/>
            <a:ext cx="704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Białe tła produktowe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1508760"/>
            <a:ext cx="658368" cy="1005840"/>
          </a:xfrm>
          <a:prstGeom prst="rect">
            <a:avLst/>
          </a:prstGeom>
          <a:solidFill>
            <a:srgbClr val="FFF8EE"/>
          </a:solidFill>
          <a:ln w="6350">
            <a:solidFill>
              <a:srgbClr val="CC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0" y="2606040"/>
            <a:ext cx="70408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Kremowe tła – firmowy krem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246120"/>
            <a:ext cx="3931920" cy="914400"/>
          </a:xfrm>
          <a:prstGeom prst="rect">
            <a:avLst/>
          </a:prstGeom>
          <a:solidFill>
            <a:srgbClr val="2D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06A"/>
                </a:solidFill>
                <a:latin typeface="Georgia"/>
              </a:rPr>
              <a:t>Nastrój: intymny, spokojny, refleksyjny.
Zdjęcia mają wywoływać ciepło i zadumę.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05840"/>
            <a:ext cx="12700" cy="3474720"/>
          </a:xfrm>
          <a:prstGeom prst="rect">
            <a:avLst/>
          </a:prstGeom>
          <a:solidFill>
            <a:srgbClr val="443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4444"/>
                </a:solidFill>
                <a:latin typeface="Calibri"/>
              </a:rPr>
              <a:t>✕  UNIKAJ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508760"/>
            <a:ext cx="822960" cy="1005840"/>
          </a:xfrm>
          <a:prstGeom prst="rect">
            <a:avLst/>
          </a:prstGeom>
          <a:solidFill>
            <a:srgbClr val="CCEEFF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1508760"/>
            <a:ext cx="822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4444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Zimne, niebieskie światło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6712" y="1508760"/>
            <a:ext cx="8229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96712" y="1508760"/>
            <a:ext cx="822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4444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Sterylne, białe tła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84264" y="1508760"/>
            <a:ext cx="822960" cy="1005840"/>
          </a:xfrm>
          <a:prstGeom prst="rect">
            <a:avLst/>
          </a:prstGeom>
          <a:solidFill>
            <a:srgbClr val="AAAAAA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4264" y="1508760"/>
            <a:ext cx="822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4444"/>
                </a:solidFill>
                <a:latin typeface="Calibri"/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Mdłe, szare zdjęcia bez nastroju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71816" y="1508760"/>
            <a:ext cx="822960" cy="1005840"/>
          </a:xfrm>
          <a:prstGeom prst="rect">
            <a:avLst/>
          </a:prstGeom>
          <a:solidFill>
            <a:srgbClr val="FF5555"/>
          </a:solidFill>
          <a:ln w="12700">
            <a:solidFill>
              <a:srgbClr val="CC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71816" y="1508760"/>
            <a:ext cx="822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C4444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1816" y="26060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Agresywne, krzykliwe kolory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246120"/>
            <a:ext cx="3931920" cy="914400"/>
          </a:xfrm>
          <a:prstGeom prst="rect">
            <a:avLst/>
          </a:prstGeom>
          <a:solidFill>
            <a:srgbClr val="33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33375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7777"/>
                </a:solidFill>
                <a:latin typeface="Calibri"/>
              </a:rPr>
              <a:t>Zdjęcia stockowe akceptowane tylko
jeśli spełniają powyższe kryteria.</a:t>
            </a:r>
          </a:p>
        </p:txBody>
      </p:sp>
      <p:pic>
        <p:nvPicPr>
          <p:cNvPr id="36" name="Picture 35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297680"/>
            <a:ext cx="1188720" cy="8020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09  /  Przykłady zastosowań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WIZYTÓWKA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926080" cy="1691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ign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280160"/>
            <a:ext cx="1097280" cy="1097280"/>
          </a:xfrm>
          <a:prstGeom prst="rect">
            <a:avLst/>
          </a:prstGeom>
        </p:spPr>
      </p:pic>
      <p:pic>
        <p:nvPicPr>
          <p:cNvPr id="8" name="Picture 7" descr="logo_whit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8640" y="1581912"/>
            <a:ext cx="1280160" cy="8637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5146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Jan Kowalski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Przedstawiciel handlowy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+48 123 456 789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417320"/>
            <a:ext cx="2926080" cy="169164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logo_sign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23060"/>
            <a:ext cx="1280160" cy="12801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00200" y="31821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przód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182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6B6B"/>
                </a:solidFill>
                <a:latin typeface="Calibri"/>
              </a:rPr>
              <a:t>tył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0789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PAPIER FIRMOWY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371600"/>
            <a:ext cx="2651760" cy="3749039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1371600"/>
            <a:ext cx="1005840" cy="566928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60720" y="1371600"/>
            <a:ext cx="164592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797" y="1405771"/>
            <a:ext cx="761238" cy="51361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892040" y="2121408"/>
            <a:ext cx="2011680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92040" y="2350008"/>
            <a:ext cx="1170432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92040" y="2578608"/>
            <a:ext cx="1517904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92040" y="2807208"/>
            <a:ext cx="1865376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92040" y="3035808"/>
            <a:ext cx="822960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92040" y="3264408"/>
            <a:ext cx="1170432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92040" y="3493008"/>
            <a:ext cx="1517904" cy="63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0" y="4553711"/>
            <a:ext cx="1371600" cy="566928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4553711"/>
            <a:ext cx="1280160" cy="56692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54880" y="4562966"/>
            <a:ext cx="2514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1" i="0" dirty="0" err="1">
                <a:latin typeface="Calibri"/>
              </a:rPr>
              <a:t>Produkcja</a:t>
            </a:r>
            <a:r>
              <a:rPr sz="600" b="1" i="0" dirty="0">
                <a:latin typeface="Calibri"/>
              </a:rPr>
              <a:t> </a:t>
            </a:r>
            <a:r>
              <a:rPr sz="600" b="1" i="0" dirty="0" err="1">
                <a:latin typeface="Calibri"/>
              </a:rPr>
              <a:t>Zniczy</a:t>
            </a:r>
            <a:r>
              <a:rPr sz="600" b="1" i="0" dirty="0">
                <a:latin typeface="Calibri"/>
              </a:rPr>
              <a:t> </a:t>
            </a:r>
            <a:r>
              <a:rPr sz="600" b="1" i="0" dirty="0" err="1">
                <a:latin typeface="Calibri"/>
              </a:rPr>
              <a:t>i</a:t>
            </a:r>
            <a:r>
              <a:rPr sz="600" b="1" i="0" dirty="0">
                <a:latin typeface="Calibri"/>
              </a:rPr>
              <a:t> </a:t>
            </a:r>
            <a:r>
              <a:rPr sz="600" b="1" i="0" dirty="0" err="1">
                <a:latin typeface="Calibri"/>
              </a:rPr>
              <a:t>Lampionów</a:t>
            </a:r>
            <a:r>
              <a:rPr sz="600" b="1" i="0" dirty="0">
                <a:latin typeface="Calibri"/>
              </a:rPr>
              <a:t> </a:t>
            </a:r>
            <a:r>
              <a:rPr sz="600" b="1" i="0" dirty="0" err="1">
                <a:latin typeface="Calibri"/>
              </a:rPr>
              <a:t>CEiM</a:t>
            </a:r>
            <a:endParaRPr sz="600" b="1" i="0" dirty="0"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54880" y="4684018"/>
            <a:ext cx="2514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dirty="0">
                <a:latin typeface="Calibri"/>
              </a:rPr>
              <a:t>Ul. </a:t>
            </a:r>
            <a:r>
              <a:rPr sz="600" b="0" i="0" dirty="0" err="1">
                <a:latin typeface="Calibri"/>
              </a:rPr>
              <a:t>Leśna</a:t>
            </a:r>
            <a:r>
              <a:rPr sz="600" b="0" i="0" dirty="0">
                <a:latin typeface="Calibri"/>
              </a:rPr>
              <a:t> 14, 64-551 </a:t>
            </a:r>
            <a:r>
              <a:rPr sz="600" b="0" i="0" dirty="0" err="1">
                <a:latin typeface="Calibri"/>
              </a:rPr>
              <a:t>Otorowo</a:t>
            </a:r>
            <a:endParaRPr sz="600" b="0" i="0" dirty="0"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754880" y="4800091"/>
            <a:ext cx="2514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 dirty="0">
                <a:latin typeface="Calibri"/>
              </a:rPr>
              <a:t>NIP: 7871003063  |  www.znicze-ceim.pl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078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A400"/>
                </a:solidFill>
                <a:latin typeface="Calibri"/>
              </a:rPr>
              <a:t>OPAKOWANIE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1417320"/>
            <a:ext cx="1188720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1417320"/>
            <a:ext cx="1188720" cy="411480"/>
          </a:xfrm>
          <a:prstGeom prst="rect">
            <a:avLst/>
          </a:prstGeom>
          <a:solidFill>
            <a:srgbClr val="FAA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logo_sign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965960"/>
            <a:ext cx="731520" cy="7315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35240" y="2834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ceim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573</Words>
  <Application>Microsoft Office PowerPoint</Application>
  <PresentationFormat>Pokaz na ekranie (16:9)</PresentationFormat>
  <Paragraphs>132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Garamond</vt:lpstr>
      <vt:lpstr>Georgia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Joanna Rybicka-Nowak</cp:lastModifiedBy>
  <cp:revision>3</cp:revision>
  <dcterms:created xsi:type="dcterms:W3CDTF">2013-01-27T09:14:16Z</dcterms:created>
  <dcterms:modified xsi:type="dcterms:W3CDTF">2026-03-06T10:41:31Z</dcterms:modified>
  <cp:category/>
</cp:coreProperties>
</file>